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ns0:chartSpace xmlns:ns0="http://schemas.openxmlformats.org/drawingml/2006/chart" xmlns:ns1="http://schemas.openxmlformats.org/drawingml/2006/main" xmlns:ns2="http://schemas.microsoft.com/office/drawing/2014/chart" xmlns:ns3="http://schemas.openxmlformats.org/officeDocument/2006/relationships">
  <ns0:date1904 val="0"/>
  <ns0:lang val="en-US"/>
  <ns0:roundedCorners val="1"/>
  <ns0:style val="2"/>
  <ns0:chart>
    <ns0:title>
      <ns0:tx>
        <ns0:rich>
          <ns1:bodyPr/>
          <ns1:lstStyle/>
          <ns1:p>
            <ns1:pPr>
              <ns1:defRPr sz="1100" b="0" i="0" u="none" strike="noStrike">
                <ns1:solidFill>
                  <ns1:srgbClr val="0D1B2A"/>
                </ns1:solidFill>
                <ns1:latin typeface="Calibri"/>
              </ns1:defRPr>
            </ns1:pPr>
            <ns1:r>
              <ns1:rPr lang="en-US" sz="1100" b="0" i="0" u="none" strike="noStrike">
                <ns1:solidFill>
                  <ns1:srgbClr val="0D1B2A"/>
                </ns1:solidFill>
                <ns1:latin typeface="Calibri"/>
              </ns1:rPr>
              <ns1:t>Avg Votes per Movie by Genre</ns1:t>
            </ns1:r>
          </ns1:p>
        </ns0:rich>
      </ns0:tx>
      <ns0:overlay val="0"/>
    </ns0:title>
    <ns0:autoTitleDeleted val="0"/>
    <ns0:plotArea>
      <ns0:layout/>
      <ns0:barChart>
        <ns0:barDir val="bar"/>
        <ns0:grouping val="clustered"/>
        <ns0:varyColors val="0"/>
        <ns0:ser>
          <ns0:idx val="0"/>
          <ns0:order val="0"/>
          <ns0:tx>
            <ns0:strRef>
              <ns0:f>Sheet1!$B$1</ns0:f>
              <ns0:strCache>
                <ns0:ptCount val="1"/>
                <ns0:pt idx="0">
                  <ns0:v>Avg Votes</ns0:v>
                </ns0:pt>
              </ns0:strCache>
            </ns0:strRef>
          </ns0:tx>
          <ns0:spPr>
            <ns1:solidFill>
              <ns1:srgbClr val="028090"/>
            </ns1:solidFill>
            <ns1:effectLst/>
          </ns0:spPr>
          <ns0:invertIfNegative val="0"/>
          <ns0:cat>
            <ns0:strRef>
              <ns0:f>Sheet1!$A$2:$A$11</ns0:f>
              <ns0:strCache>
                <ns0:ptCount val="10"/>
                <ns0:pt idx="0">
                  <ns0:v>Thriller</ns0:v>
                </ns0:pt>
                <ns0:pt idx="1">
                  <ns0:v>Biography</ns0:v>
                </ns0:pt>
                <ns0:pt idx="2">
                  <ns0:v>Crime</ns0:v>
                </ns0:pt>
                <ns0:pt idx="3">
                  <ns0:v>Mystery</ns0:v>
                </ns0:pt>
                <ns0:pt idx="4">
                  <ns0:v>Animation</ns0:v>
                </ns0:pt>
                <ns0:pt idx="5">
                  <ns0:v>Western</ns0:v>
                </ns0:pt>
                <ns0:pt idx="6">
                  <ns0:v>Action</ns0:v>
                </ns0:pt>
                <ns0:pt idx="7">
                  <ns0:v>Fantasy</ns0:v>
                </ns0:pt>
                <ns0:pt idx="8">
                  <ns0:v>Sci-Fi</ns0:v>
                </ns0:pt>
                <ns0:pt idx="9">
                  <ns0:v>Adventure</ns0:v>
                </ns0:pt>
              </ns0:strCache>
            </ns0:strRef>
          </ns0:cat>
          <ns0:val>
            <ns0:numRef>
              <ns0:f>Sheet1!$B$2:$B$11</ns0:f>
              <ns0:numCache>
                <ns0:formatCode>General</ns0:formatCode>
                <ns0:ptCount val="10"/>
                <ns0:pt idx="0">
                  <ns0:v>10839</ns0:v>
                </ns0:pt>
                <ns0:pt idx="1">
                  <ns0:v>14752</ns0:v>
                </ns0:pt>
                <ns0:pt idx="2">
                  <ns0:v>15080</ns0:v>
                </ns0:pt>
                <ns0:pt idx="3">
                  <ns0:v>15491</ns0:v>
                </ns0:pt>
                <ns0:pt idx="4">
                  <ns0:v>17718</ns0:v>
                </ns0:pt>
                <ns0:pt idx="5">
                  <ns0:v>19903</ns0:v>
                </ns0:pt>
                <ns0:pt idx="6">
                  <ns0:v>25472</ns0:v>
                </ns0:pt>
                <ns0:pt idx="7">
                  <ns0:v>25487</ns0:v>
                </ns0:pt>
                <ns0:pt idx="8">
                  <ns0:v>36913</ns0:v>
                </ns0:pt>
                <ns0:pt idx="9">
                  <ns0:v>43014</ns0:v>
                </ns0:pt>
              </ns0:numCache>
            </ns0:numRef>
          </ns0:val>
          <ns0:extLst>
            <ns0:ext uri="{C3380CC4-5D6E-409C-BE32-E72D297353CC}">
              <ns2:uniqueId val="{00000000-1C05-405E-A00C-944AD1462CEB}"/>
            </ns0:ext>
          </ns0:extLst>
        </ns0:ser>
        <ns0:dLbls>
          <ns0:showLegendKey val="0"/>
          <ns0:showVal val="0"/>
          <ns0:showCatName val="0"/>
          <ns0:showSerName val="0"/>
          <ns0:showPercent val="0"/>
          <ns0:showBubbleSize val="0"/>
        </ns0:dLbls>
        <ns0:gapWidth val="150"/>
        <ns0:axId val="2094734554"/>
        <ns0:axId val="2094734552"/>
      </ns0:barChart>
      <ns0:catAx>
        <ns0:axId val="2094734554"/>
        <ns0:scaling>
          <ns0:orientation val="minMax"/>
        </ns0:scaling>
        <ns0:delete val="0"/>
        <ns0:axPos val="l"/>
        <ns0:numFmt formatCode="General" sourceLinked="1"/>
        <ns0:majorTickMark val="out"/>
        <ns0:minorTickMark val="none"/>
        <ns0:tickLblPos val="nextTo"/>
        <ns0:spPr>
          <ns1:ln w="12700" cap="flat">
            <ns1:solidFill>
              <ns1:srgbClr val="888888"/>
            </ns1:solidFill>
            <ns1:prstDash val="solid"/>
            <ns1:round/>
          </ns1:ln>
        </ns0:spPr>
        <ns0:txPr>
          <ns1:bodyPr/>
          <ns1:lstStyle/>
          <ns1:p>
            <ns1:pPr>
              <ns1:defRPr sz="900" b="0" i="0" u="none" strike="noStrike">
                <ns1:solidFill>
                  <ns1:srgbClr val="5A7A85"/>
                </ns1:solidFill>
                <ns1:latin typeface="Arial"/>
              </ns1:defRPr>
            </ns1:pPr>
            <ns1:endParaRPr lang="en-US"/>
          </ns1:p>
        </ns0:txPr>
        <ns0:crossAx val="2094734552"/>
        <ns0:crosses val="autoZero"/>
        <ns0:auto val="1"/>
        <ns0:lblAlgn val="ctr"/>
        <ns0:lblOffset val="100"/>
        <ns0:noMultiLvlLbl val="1"/>
      </ns0:catAx>
      <ns0:valAx>
        <ns0:axId val="2094734552"/>
        <ns0:scaling>
          <ns0:orientation val="minMax"/>
        </ns0:scaling>
        <ns0:delete val="0"/>
        <ns0:axPos val="b"/>
        <ns0:majorGridlines>
          <ns0:spPr>
            <ns1:ln w="6350" cap="flat">
              <ns1:solidFill>
                <ns1:srgbClr val="E2E8F0"/>
              </ns1:solidFill>
              <ns1:prstDash val="solid"/>
              <ns1:round/>
            </ns1:ln>
          </ns0:spPr>
        </ns0:majorGridlines>
        <ns0:numFmt formatCode="General" sourceLinked="0"/>
        <ns0:majorTickMark val="out"/>
        <ns0:minorTickMark val="none"/>
        <ns0:tickLblPos val="low"/>
        <ns0:spPr>
          <ns1:ln w="12700" cap="flat">
            <ns1:solidFill>
              <ns1:srgbClr val="888888"/>
            </ns1:solidFill>
            <ns1:prstDash val="solid"/>
            <ns1:round/>
          </ns1:ln>
        </ns0:spPr>
        <ns0:txPr>
          <ns1:bodyPr/>
          <ns1:lstStyle/>
          <ns1:p>
            <ns1:pPr>
              <ns1:defRPr sz="900" b="0" i="0" u="none" strike="noStrike">
                <ns1:solidFill>
                  <ns1:srgbClr val="5A7A85"/>
                </ns1:solidFill>
                <ns1:latin typeface="Arial"/>
              </ns1:defRPr>
            </ns1:pPr>
            <ns1:endParaRPr lang="en-US"/>
          </ns1:p>
        </ns0:txPr>
        <ns0:crossAx val="2094734554"/>
        <ns0:crosses val="autoZero"/>
        <ns0:crossBetween val="between"/>
      </ns0:valAx>
      <ns0:spPr>
        <ns1:noFill/>
        <ns1:ln>
          <ns1:noFill/>
        </ns1:ln>
        <ns1:effectLst/>
      </ns0:spPr>
    </ns0:plotArea>
    <ns0:plotVisOnly val="1"/>
    <ns0:dispBlanksAs val="span"/>
    <ns0:showDLblsOverMax val="1"/>
  </ns0:chart>
  <ns0:spPr>
    <ns1:solidFill>
      <ns1:srgbClr val="F4F9FA"/>
    </ns1:solidFill>
    <ns1:ln>
      <ns1:noFill/>
    </ns1:ln>
    <ns1:effectLst/>
  </ns0:spPr>
  <ns0:externalData ns3:id="rId1">
    <ns0:autoUpdate val="0"/>
  </ns0:externalData>
</ns0:chartSpace>
</file>

<file path=ppt/charts/chart2.xml><?xml version="1.0" encoding="utf-8"?>
<ns0:chartSpace xmlns:ns0="http://schemas.openxmlformats.org/drawingml/2006/chart" xmlns:ns1="http://schemas.openxmlformats.org/drawingml/2006/main" xmlns:ns2="http://schemas.microsoft.com/office/drawing/2014/chart" xmlns:ns3="http://schemas.openxmlformats.org/officeDocument/2006/relationships">
  <ns0:date1904 val="0"/>
  <ns0:lang val="en-US"/>
  <ns0:roundedCorners val="1"/>
  <ns0:style val="2"/>
  <ns0:chart>
    <ns0:title>
      <ns0:tx>
        <ns0:rich>
          <ns1:bodyPr/>
          <ns1:lstStyle/>
          <ns1:p>
            <ns1:pPr>
              <ns1:defRPr sz="1100" b="0" i="0" u="none" strike="noStrike">
                <ns1:solidFill>
                  <ns1:srgbClr val="0D1B2A"/>
                </ns1:solidFill>
                <ns1:latin typeface="Calibri"/>
              </ns1:defRPr>
            </ns1:pPr>
            <ns1:r>
              <ns1:rPr lang="en-US" sz="1100" b="0" i="0" u="none" strike="noStrike">
                <ns1:solidFill>
                  <ns1:srgbClr val="0D1B2A"/>
                </ns1:solidFill>
                <ns1:latin typeface="Calibri"/>
              </ns1:rPr>
              <ns1:t>Avg IMDB Rating by Genre</ns1:t>
            </ns1:r>
          </ns1:p>
        </ns0:rich>
      </ns0:tx>
      <ns0:overlay val="0"/>
    </ns0:title>
    <ns0:autoTitleDeleted val="0"/>
    <ns0:plotArea>
      <ns0:layout/>
      <ns0:barChart>
        <ns0:barDir val="bar"/>
        <ns0:grouping val="clustered"/>
        <ns0:varyColors val="0"/>
        <ns0:ser>
          <ns0:idx val="0"/>
          <ns0:order val="0"/>
          <ns0:tx>
            <ns0:strRef>
              <ns0:f>Sheet1!$B$1</ns0:f>
              <ns0:strCache>
                <ns0:ptCount val="1"/>
                <ns0:pt idx="0">
                  <ns0:v>Avg Rating</ns0:v>
                </ns0:pt>
              </ns0:strCache>
            </ns0:strRef>
          </ns0:tx>
          <ns0:spPr>
            <ns1:solidFill>
              <ns1:srgbClr val="028090"/>
            </ns1:solidFill>
            <ns1:effectLst/>
          </ns0:spPr>
          <ns0:invertIfNegative val="0"/>
          <ns0:cat>
            <ns0:strRef>
              <ns0:f>Sheet1!$A$2:$A$11</ns0:f>
              <ns0:strCache>
                <ns0:ptCount val="10"/>
                <ns0:pt idx="0">
                  <ns0:v>Sci-Fi</ns0:v>
                </ns0:pt>
                <ns0:pt idx="1">
                  <ns0:v>Thriller</ns0:v>
                </ns0:pt>
                <ns0:pt idx="2">
                  <ns0:v>Western</ns0:v>
                </ns0:pt>
                <ns0:pt idx="3">
                  <ns0:v>Fantasy</ns0:v>
                </ns0:pt>
                <ns0:pt idx="4">
                  <ns0:v>Action</ns0:v>
                </ns0:pt>
                <ns0:pt idx="5">
                  <ns0:v>Mystery</ns0:v>
                </ns0:pt>
                <ns0:pt idx="6">
                  <ns0:v>Adventure</ns0:v>
                </ns0:pt>
                <ns0:pt idx="7">
                  <ns0:v>Crime</ns0:v>
                </ns0:pt>
                <ns0:pt idx="8">
                  <ns0:v>Animation</ns0:v>
                </ns0:pt>
                <ns0:pt idx="9">
                  <ns0:v>Biography</ns0:v>
                </ns0:pt>
              </ns0:strCache>
            </ns0:strRef>
          </ns0:cat>
          <ns0:val>
            <ns0:numRef>
              <ns0:f>Sheet1!$B$2:$B$11</ns0:f>
              <ns0:numCache>
                <ns0:formatCode>General</ns0:formatCode>
                <ns0:ptCount val="10"/>
                <ns0:pt idx="0">
                  <ns0:v>5.08</ns0:v>
                </ns0:pt>
                <ns0:pt idx="1">
                  <ns0:v>5.38</ns0:v>
                </ns0:pt>
                <ns0:pt idx="2">
                  <ns0:v>5.4</ns0:v>
                </ns0:pt>
                <ns0:pt idx="3">
                  <ns0:v>5.56</ns0:v>
                </ns0:pt>
                <ns0:pt idx="4">
                  <ns0:v>5.56</ns0:v>
                </ns0:pt>
                <ns0:pt idx="5">
                  <ns0:v>5.63</ns0:v>
                </ns0:pt>
                <ns0:pt idx="6">
                  <ns0:v>5.78</ns0:v>
                </ns0:pt>
                <ns0:pt idx="7">
                  <ns0:v>5.92</ns0:v>
                </ns0:pt>
                <ns0:pt idx="8">
                  <ns0:v>6.31</ns0:v>
                </ns0:pt>
                <ns0:pt idx="9">
                  <ns0:v>6.88</ns0:v>
                </ns0:pt>
              </ns0:numCache>
            </ns0:numRef>
          </ns0:val>
          <ns0:extLst>
            <ns0:ext uri="{C3380CC4-5D6E-409C-BE32-E72D297353CC}">
              <ns2:uniqueId val="{00000000-632B-417B-BB30-2AEB3EAD6E41}"/>
            </ns0:ext>
          </ns0:extLst>
        </ns0:ser>
        <ns0:dLbls>
          <ns0:showLegendKey val="0"/>
          <ns0:showVal val="0"/>
          <ns0:showCatName val="0"/>
          <ns0:showSerName val="0"/>
          <ns0:showPercent val="0"/>
          <ns0:showBubbleSize val="0"/>
        </ns0:dLbls>
        <ns0:gapWidth val="150"/>
        <ns0:axId val="2094734554"/>
        <ns0:axId val="2094734552"/>
      </ns0:barChart>
      <ns0:catAx>
        <ns0:axId val="2094734554"/>
        <ns0:scaling>
          <ns0:orientation val="minMax"/>
        </ns0:scaling>
        <ns0:delete val="0"/>
        <ns0:axPos val="l"/>
        <ns0:numFmt formatCode="General" sourceLinked="1"/>
        <ns0:majorTickMark val="out"/>
        <ns0:minorTickMark val="none"/>
        <ns0:tickLblPos val="nextTo"/>
        <ns0:spPr>
          <ns1:ln w="12700" cap="flat">
            <ns1:solidFill>
              <ns1:srgbClr val="888888"/>
            </ns1:solidFill>
            <ns1:prstDash val="solid"/>
            <ns1:round/>
          </ns1:ln>
        </ns0:spPr>
        <ns0:txPr>
          <ns1:bodyPr/>
          <ns1:lstStyle/>
          <ns1:p>
            <ns1:pPr>
              <ns1:defRPr sz="900" b="0" i="0" u="none" strike="noStrike">
                <ns1:solidFill>
                  <ns1:srgbClr val="5A7A85"/>
                </ns1:solidFill>
                <ns1:latin typeface="Arial"/>
              </ns1:defRPr>
            </ns1:pPr>
            <ns1:endParaRPr lang="en-US"/>
          </ns1:p>
        </ns0:txPr>
        <ns0:crossAx val="2094734552"/>
        <ns0:crosses val="autoZero"/>
        <ns0:auto val="1"/>
        <ns0:lblAlgn val="ctr"/>
        <ns0:lblOffset val="100"/>
        <ns0:noMultiLvlLbl val="1"/>
      </ns0:catAx>
      <ns0:valAx>
        <ns0:axId val="2094734552"/>
        <ns0:scaling>
          <ns0:orientation val="minMax"/>
        </ns0:scaling>
        <ns0:delete val="0"/>
        <ns0:axPos val="b"/>
        <ns0:majorGridlines>
          <ns0:spPr>
            <ns1:ln w="6350" cap="flat">
              <ns1:solidFill>
                <ns1:srgbClr val="E2E8F0"/>
              </ns1:solidFill>
              <ns1:prstDash val="solid"/>
              <ns1:round/>
            </ns1:ln>
          </ns0:spPr>
        </ns0:majorGridlines>
        <ns0:numFmt formatCode="General" sourceLinked="0"/>
        <ns0:majorTickMark val="out"/>
        <ns0:minorTickMark val="none"/>
        <ns0:tickLblPos val="low"/>
        <ns0:spPr>
          <ns1:ln w="12700" cap="flat">
            <ns1:solidFill>
              <ns1:srgbClr val="888888"/>
            </ns1:solidFill>
            <ns1:prstDash val="solid"/>
            <ns1:round/>
          </ns1:ln>
        </ns0:spPr>
        <ns0:txPr>
          <ns1:bodyPr/>
          <ns1:lstStyle/>
          <ns1:p>
            <ns1:pPr>
              <ns1:defRPr sz="900" b="0" i="0" u="none" strike="noStrike">
                <ns1:solidFill>
                  <ns1:srgbClr val="5A7A85"/>
                </ns1:solidFill>
                <ns1:latin typeface="Arial"/>
              </ns1:defRPr>
            </ns1:pPr>
            <ns1:endParaRPr lang="en-US"/>
          </ns1:p>
        </ns0:txPr>
        <ns0:crossAx val="2094734554"/>
        <ns0:crosses val="autoZero"/>
        <ns0:crossBetween val="between"/>
      </ns0:valAx>
      <ns0:spPr>
        <ns1:noFill/>
        <ns1:ln>
          <ns1:noFill/>
        </ns1:ln>
        <ns1:effectLst/>
      </ns0:spPr>
    </ns0:plotArea>
    <ns0:plotVisOnly val="1"/>
    <ns0:dispBlanksAs val="span"/>
    <ns0:showDLblsOverMax val="1"/>
  </ns0:chart>
  <ns0:spPr>
    <ns1:solidFill>
      <ns1:srgbClr val="F4F9FA"/>
    </ns1:solidFill>
    <ns1:ln>
      <ns1:noFill/>
    </ns1:ln>
    <ns1:effectLst/>
  </ns0:spPr>
  <ns0:externalData ns3:id="rId1">
    <ns0:autoUpdate val="0"/>
  </ns0:externalData>
</ns0:chartSpace>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0639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p:spPr>
      </p:sp>
      <p:sp>
        <p:nvSpPr>
          <p:cNvPr id="3" name="Text 1"/>
          <p:cNvSpPr/>
          <p:nvPr/>
        </p:nvSpPr>
        <p:spPr>
          <a:xfrm>
            <a:off x="411480" y="1371600"/>
            <a:ext cx="8321040" cy="685800"/>
          </a:xfrm>
          <a:prstGeom prst="rect">
            <a:avLst/>
          </a:prstGeom>
          <a:noFill/>
          <a:ln/>
        </p:spPr>
        <p:txBody>
          <a:bodyPr wrap="square" rtlCol="0" anchor="ctr"/>
          <a:lstStyle/>
          <a:p>
            <a:pPr marL="0" indent="0">
              <a:buNone/>
            </a:pPr>
            <a:r>
              <a:rPr lang="en-US" sz="3200" b="1" dirty="0">
                <a:solidFill>
                  <a:srgbClr val="FFFFFF"/>
                </a:solidFill>
                <a:ea typeface="Calibri" pitchFamily="34" charset="-122"/>
                <a:cs typeface="Calibri" pitchFamily="34" charset="-120"/>
              </a:rPr>
              <a:t>IMDB Movie Database Analysis</a:t>
            </a:r>
            <a:endParaRPr lang="en-US" sz="3200" dirty="0"/>
          </a:p>
        </p:txBody>
      </p:sp>
      <p:sp>
        <p:nvSpPr>
          <p:cNvPr id="4" name="Text 2"/>
          <p:cNvSpPr/>
          <p:nvPr/>
        </p:nvSpPr>
        <p:spPr>
          <a:xfrm>
            <a:off x="411480" y="2148840"/>
            <a:ext cx="8321040" cy="457200"/>
          </a:xfrm>
          <a:prstGeom prst="rect">
            <a:avLst/>
          </a:prstGeom>
          <a:noFill/>
          <a:ln/>
        </p:spPr>
        <p:txBody>
          <a:bodyPr wrap="square" rtlCol="0" anchor="ctr"/>
          <a:lstStyle/>
          <a:p>
            <a:pPr marL="0" indent="0">
              <a:buNone/>
            </a:pPr>
            <a:r>
              <a:rPr lang="en-US" sz="1800" dirty="0">
                <a:solidFill>
                  <a:srgbClr val="A8DADC"/>
                </a:solidFill>
                <a:ea typeface="Calibri" pitchFamily="34" charset="-122"/>
                <a:cs typeface="Calibri" pitchFamily="34" charset="-120"/>
              </a:rPr>
              <a:t>SQL Exploratory Analysis  |  2010 – 2019</a:t>
            </a:r>
            <a:endParaRPr lang="en-US" sz="1800" dirty="0"/>
          </a:p>
        </p:txBody>
      </p:sp>
      <p:sp>
        <p:nvSpPr>
          <p:cNvPr id="5" name="Text 3"/>
          <p:cNvSpPr/>
          <p:nvPr/>
        </p:nvSpPr>
        <p:spPr>
          <a:xfrm>
            <a:off x="411480" y="2834640"/>
            <a:ext cx="8321040" cy="365760"/>
          </a:xfrm>
          <a:prstGeom prst="rect">
            <a:avLst/>
          </a:prstGeom>
          <a:noFill/>
          <a:ln/>
        </p:spPr>
        <p:txBody>
          <a:bodyPr wrap="square" rtlCol="0" anchor="ctr"/>
          <a:lstStyle/>
          <a:p>
            <a:pPr marL="0" indent="0">
              <a:buNone/>
            </a:pPr>
            <a:r>
              <a:rPr lang="en-US" sz="1600" i="1" dirty="0">
                <a:solidFill>
                  <a:srgbClr val="5A7A85"/>
                </a:solidFill>
                <a:ea typeface="Calibri" pitchFamily="34" charset="-122"/>
                <a:cs typeface="Calibri" pitchFamily="34" charset="-120"/>
              </a:rPr>
              <a:t>Initial Exploration  ·  Business Question  ·  Data Cleaning</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rtlCol="0" anchor="ctr"/>
          <a:lstStyle/>
          <a:p>
            <a:pPr marL="0" indent="0">
              <a:buNone/>
            </a:pPr>
            <a:r>
              <a:rPr lang="en-US" sz="2600" b="1" dirty="0">
                <a:solidFill>
                  <a:srgbClr val="0D1B2A"/>
                </a:solidFill>
                <a:ea typeface="Calibri" pitchFamily="34" charset="-122"/>
                <a:cs typeface="Calibri" pitchFamily="34" charset="-120"/>
              </a:rPr>
              <a:t>Initial Exploration Findings</a:t>
            </a:r>
            <a:endParaRPr lang="en-US" sz="2600" dirty="0"/>
          </a:p>
        </p:txBody>
      </p:sp>
      <p:sp>
        <p:nvSpPr>
          <p:cNvPr id="3" name="Shape 1"/>
          <p:cNvSpPr/>
          <p:nvPr/>
        </p:nvSpPr>
        <p:spPr>
          <a:xfrm>
            <a:off x="457200" y="804672"/>
            <a:ext cx="1280160" cy="45720"/>
          </a:xfrm>
          <a:prstGeom prst="rect">
            <a:avLst/>
          </a:prstGeom>
          <a:solidFill>
            <a:srgbClr val="028090"/>
          </a:solidFill>
          <a:ln/>
        </p:spPr>
      </p:sp>
      <p:sp>
        <p:nvSpPr>
          <p:cNvPr id="4" name="Shape 2"/>
          <p:cNvSpPr/>
          <p:nvPr/>
        </p:nvSpPr>
        <p:spPr>
          <a:xfrm>
            <a:off x="457200" y="960120"/>
            <a:ext cx="1920240" cy="1005840"/>
          </a:xfrm>
          <a:prstGeom prst="rect">
            <a:avLst/>
          </a:prstGeom>
          <a:solidFill>
            <a:srgbClr val="FFFFFF"/>
          </a:solidFill>
          <a:ln w="15240">
            <a:solidFill>
              <a:srgbClr val="A8DADC"/>
            </a:solidFill>
            <a:prstDash val="solid"/>
          </a:ln>
        </p:spPr>
      </p:sp>
      <p:sp>
        <p:nvSpPr>
          <p:cNvPr id="5" name="Text 3"/>
          <p:cNvSpPr/>
          <p:nvPr/>
        </p:nvSpPr>
        <p:spPr>
          <a:xfrm>
            <a:off x="457200" y="1005840"/>
            <a:ext cx="1920240" cy="502920"/>
          </a:xfrm>
          <a:prstGeom prst="rect">
            <a:avLst/>
          </a:prstGeom>
          <a:noFill/>
          <a:ln/>
        </p:spPr>
        <p:txBody>
          <a:bodyPr wrap="square" rtlCol="0" anchor="ctr"/>
          <a:lstStyle/>
          <a:p>
            <a:pPr marL="0" indent="0" algn="ctr">
              <a:buNone/>
            </a:pPr>
            <a:r>
              <a:rPr lang="en-US" sz="2200" b="1" dirty="0">
                <a:solidFill>
                  <a:srgbClr val="028090"/>
                </a:solidFill>
                <a:latin typeface="Calibri" pitchFamily="34" charset="0"/>
                <a:ea typeface="Calibri" pitchFamily="34" charset="-122"/>
                <a:cs typeface="Calibri" pitchFamily="34" charset="-120"/>
              </a:rPr>
              <a:t>145,081</a:t>
            </a:r>
            <a:endParaRPr lang="en-US" sz="2200" dirty="0"/>
          </a:p>
        </p:txBody>
      </p:sp>
      <p:sp>
        <p:nvSpPr>
          <p:cNvPr id="6" name="Text 4"/>
          <p:cNvSpPr/>
          <p:nvPr/>
        </p:nvSpPr>
        <p:spPr>
          <a:xfrm>
            <a:off x="457200" y="1481328"/>
            <a:ext cx="1920240" cy="384048"/>
          </a:xfrm>
          <a:prstGeom prst="rect">
            <a:avLst/>
          </a:prstGeom>
          <a:noFill/>
          <a:ln/>
        </p:spPr>
        <p:txBody>
          <a:bodyPr wrap="square" rtlCol="0" anchor="ctr"/>
          <a:lstStyle/>
          <a:p>
            <a:pPr marL="0" indent="0" algn="ctr">
              <a:buNone/>
            </a:pPr>
            <a:r>
              <a:rPr lang="en-US" sz="1000" dirty="0">
                <a:solidFill>
                  <a:srgbClr val="5A7A85"/>
                </a:solidFill>
                <a:latin typeface="Calibri" pitchFamily="34" charset="0"/>
                <a:ea typeface="Calibri" pitchFamily="34" charset="-122"/>
                <a:cs typeface="Calibri" pitchFamily="34" charset="-120"/>
              </a:rPr>
              <a:t>Movies (2010–2019)</a:t>
            </a:r>
            <a:endParaRPr lang="en-US" sz="1000" dirty="0"/>
          </a:p>
        </p:txBody>
      </p:sp>
      <p:sp>
        <p:nvSpPr>
          <p:cNvPr id="7" name="Shape 5"/>
          <p:cNvSpPr/>
          <p:nvPr/>
        </p:nvSpPr>
        <p:spPr>
          <a:xfrm>
            <a:off x="2578608" y="960120"/>
            <a:ext cx="1920240" cy="1005840"/>
          </a:xfrm>
          <a:prstGeom prst="rect">
            <a:avLst/>
          </a:prstGeom>
          <a:solidFill>
            <a:srgbClr val="FFFFFF"/>
          </a:solidFill>
          <a:ln w="15240">
            <a:solidFill>
              <a:srgbClr val="A8DADC"/>
            </a:solidFill>
            <a:prstDash val="solid"/>
          </a:ln>
        </p:spPr>
      </p:sp>
      <p:sp>
        <p:nvSpPr>
          <p:cNvPr id="8" name="Text 6"/>
          <p:cNvSpPr/>
          <p:nvPr/>
        </p:nvSpPr>
        <p:spPr>
          <a:xfrm>
            <a:off x="2578608" y="1005840"/>
            <a:ext cx="1920240" cy="502920"/>
          </a:xfrm>
          <a:prstGeom prst="rect">
            <a:avLst/>
          </a:prstGeom>
          <a:noFill/>
          <a:ln/>
        </p:spPr>
        <p:txBody>
          <a:bodyPr wrap="square" rtlCol="0" anchor="ctr"/>
          <a:lstStyle/>
          <a:p>
            <a:pPr marL="0" indent="0" algn="ctr">
              <a:buNone/>
            </a:pPr>
            <a:r>
              <a:rPr lang="en-US" sz="2200" b="1" dirty="0">
                <a:solidFill>
                  <a:srgbClr val="028090"/>
                </a:solidFill>
                <a:latin typeface="Calibri" pitchFamily="34" charset="0"/>
                <a:ea typeface="Calibri" pitchFamily="34" charset="-122"/>
                <a:cs typeface="Calibri" pitchFamily="34" charset="-120"/>
              </a:rPr>
              <a:t>8</a:t>
            </a:r>
            <a:endParaRPr lang="en-US" sz="2200" dirty="0"/>
          </a:p>
        </p:txBody>
      </p:sp>
      <p:sp>
        <p:nvSpPr>
          <p:cNvPr id="9" name="Text 7"/>
          <p:cNvSpPr/>
          <p:nvPr/>
        </p:nvSpPr>
        <p:spPr>
          <a:xfrm>
            <a:off x="2578608" y="1481328"/>
            <a:ext cx="1920240" cy="384048"/>
          </a:xfrm>
          <a:prstGeom prst="rect">
            <a:avLst/>
          </a:prstGeom>
          <a:noFill/>
          <a:ln/>
        </p:spPr>
        <p:txBody>
          <a:bodyPr wrap="square" rtlCol="0" anchor="ctr"/>
          <a:lstStyle/>
          <a:p>
            <a:pPr marL="0" indent="0" algn="ctr">
              <a:buNone/>
            </a:pPr>
            <a:r>
              <a:rPr lang="en-US" sz="1000" dirty="0">
                <a:solidFill>
                  <a:srgbClr val="5A7A85"/>
                </a:solidFill>
                <a:latin typeface="Calibri" pitchFamily="34" charset="0"/>
                <a:ea typeface="Calibri" pitchFamily="34" charset="-122"/>
                <a:cs typeface="Calibri" pitchFamily="34" charset="-120"/>
              </a:rPr>
              <a:t>Tables in Database</a:t>
            </a:r>
            <a:endParaRPr lang="en-US" sz="1000" dirty="0"/>
          </a:p>
        </p:txBody>
      </p:sp>
      <p:sp>
        <p:nvSpPr>
          <p:cNvPr id="10" name="Shape 8"/>
          <p:cNvSpPr/>
          <p:nvPr/>
        </p:nvSpPr>
        <p:spPr>
          <a:xfrm>
            <a:off x="4700016" y="960120"/>
            <a:ext cx="1920240" cy="1005840"/>
          </a:xfrm>
          <a:prstGeom prst="rect">
            <a:avLst/>
          </a:prstGeom>
          <a:solidFill>
            <a:srgbClr val="FFFFFF"/>
          </a:solidFill>
          <a:ln w="15240">
            <a:solidFill>
              <a:srgbClr val="A8DADC"/>
            </a:solidFill>
            <a:prstDash val="solid"/>
          </a:ln>
        </p:spPr>
      </p:sp>
      <p:sp>
        <p:nvSpPr>
          <p:cNvPr id="11" name="Text 9"/>
          <p:cNvSpPr/>
          <p:nvPr/>
        </p:nvSpPr>
        <p:spPr>
          <a:xfrm>
            <a:off x="4700016" y="1005840"/>
            <a:ext cx="1920240" cy="502920"/>
          </a:xfrm>
          <a:prstGeom prst="rect">
            <a:avLst/>
          </a:prstGeom>
          <a:noFill/>
          <a:ln/>
        </p:spPr>
        <p:txBody>
          <a:bodyPr wrap="square" rtlCol="0" anchor="ctr"/>
          <a:lstStyle/>
          <a:p>
            <a:pPr marL="0" indent="0" algn="ctr">
              <a:buNone/>
            </a:pPr>
            <a:r>
              <a:rPr lang="en-US" sz="2200" b="1" dirty="0">
                <a:solidFill>
                  <a:srgbClr val="028090"/>
                </a:solidFill>
                <a:latin typeface="Calibri" pitchFamily="34" charset="0"/>
                <a:ea typeface="Calibri" pitchFamily="34" charset="-122"/>
                <a:cs typeface="Calibri" pitchFamily="34" charset="-120"/>
              </a:rPr>
              <a:t>Documentary</a:t>
            </a:r>
            <a:endParaRPr lang="en-US" sz="2200" dirty="0"/>
          </a:p>
        </p:txBody>
      </p:sp>
      <p:sp>
        <p:nvSpPr>
          <p:cNvPr id="12" name="Text 10"/>
          <p:cNvSpPr/>
          <p:nvPr/>
        </p:nvSpPr>
        <p:spPr>
          <a:xfrm>
            <a:off x="4700016" y="1481328"/>
            <a:ext cx="1920240" cy="384048"/>
          </a:xfrm>
          <a:prstGeom prst="rect">
            <a:avLst/>
          </a:prstGeom>
          <a:noFill/>
          <a:ln/>
        </p:spPr>
        <p:txBody>
          <a:bodyPr wrap="square" rtlCol="0" anchor="ctr"/>
          <a:lstStyle/>
          <a:p>
            <a:pPr marL="0" indent="0" algn="ctr">
              <a:buNone/>
            </a:pPr>
            <a:r>
              <a:rPr lang="en-US" sz="1000" dirty="0">
                <a:solidFill>
                  <a:srgbClr val="5A7A85"/>
                </a:solidFill>
                <a:latin typeface="Calibri" pitchFamily="34" charset="0"/>
                <a:ea typeface="Calibri" pitchFamily="34" charset="-122"/>
                <a:cs typeface="Calibri" pitchFamily="34" charset="-120"/>
              </a:rPr>
              <a:t>Dominant Genre</a:t>
            </a:r>
            <a:endParaRPr lang="en-US" sz="1000" dirty="0"/>
          </a:p>
        </p:txBody>
      </p:sp>
      <p:sp>
        <p:nvSpPr>
          <p:cNvPr id="13" name="Shape 11"/>
          <p:cNvSpPr/>
          <p:nvPr/>
        </p:nvSpPr>
        <p:spPr>
          <a:xfrm>
            <a:off x="6821424" y="960120"/>
            <a:ext cx="1920240" cy="1005840"/>
          </a:xfrm>
          <a:prstGeom prst="rect">
            <a:avLst/>
          </a:prstGeom>
          <a:solidFill>
            <a:srgbClr val="FFFFFF"/>
          </a:solidFill>
          <a:ln w="15240">
            <a:solidFill>
              <a:srgbClr val="A8DADC"/>
            </a:solidFill>
            <a:prstDash val="solid"/>
          </a:ln>
        </p:spPr>
      </p:sp>
      <p:sp>
        <p:nvSpPr>
          <p:cNvPr id="14" name="Text 12"/>
          <p:cNvSpPr/>
          <p:nvPr/>
        </p:nvSpPr>
        <p:spPr>
          <a:xfrm>
            <a:off x="6821424" y="1005840"/>
            <a:ext cx="1920240" cy="502920"/>
          </a:xfrm>
          <a:prstGeom prst="rect">
            <a:avLst/>
          </a:prstGeom>
          <a:noFill/>
          <a:ln/>
        </p:spPr>
        <p:txBody>
          <a:bodyPr wrap="square" rtlCol="0" anchor="ctr"/>
          <a:lstStyle/>
          <a:p>
            <a:pPr marL="0" indent="0" algn="ctr">
              <a:buNone/>
            </a:pPr>
            <a:r>
              <a:rPr lang="en-US" sz="2200" b="1" dirty="0">
                <a:solidFill>
                  <a:srgbClr val="028090"/>
                </a:solidFill>
                <a:latin typeface="Calibri" pitchFamily="34" charset="0"/>
                <a:ea typeface="Calibri" pitchFamily="34" charset="-122"/>
                <a:cs typeface="Calibri" pitchFamily="34" charset="-120"/>
              </a:rPr>
              <a:t>90 min</a:t>
            </a:r>
            <a:endParaRPr lang="en-US" sz="2200" dirty="0"/>
          </a:p>
        </p:txBody>
      </p:sp>
      <p:sp>
        <p:nvSpPr>
          <p:cNvPr id="15" name="Text 13"/>
          <p:cNvSpPr/>
          <p:nvPr/>
        </p:nvSpPr>
        <p:spPr>
          <a:xfrm>
            <a:off x="6821424" y="1481328"/>
            <a:ext cx="1920240" cy="384048"/>
          </a:xfrm>
          <a:prstGeom prst="rect">
            <a:avLst/>
          </a:prstGeom>
          <a:noFill/>
          <a:ln/>
        </p:spPr>
        <p:txBody>
          <a:bodyPr wrap="square" rtlCol="0" anchor="ctr"/>
          <a:lstStyle/>
          <a:p>
            <a:pPr marL="0" indent="0" algn="ctr">
              <a:buNone/>
            </a:pPr>
            <a:r>
              <a:rPr lang="en-US" sz="1000" dirty="0">
                <a:solidFill>
                  <a:srgbClr val="5A7A85"/>
                </a:solidFill>
                <a:latin typeface="Calibri" pitchFamily="34" charset="0"/>
                <a:ea typeface="Calibri" pitchFamily="34" charset="-122"/>
                <a:cs typeface="Calibri" pitchFamily="34" charset="-120"/>
              </a:rPr>
              <a:t>Avg Runtime</a:t>
            </a:r>
            <a:endParaRPr lang="en-US" sz="1000" dirty="0"/>
          </a:p>
        </p:txBody>
      </p:sp>
      <p:sp>
        <p:nvSpPr>
          <p:cNvPr id="16" name="Text 14"/>
          <p:cNvSpPr/>
          <p:nvPr/>
        </p:nvSpPr>
        <p:spPr>
          <a:xfrm>
            <a:off x="457200" y="2103120"/>
            <a:ext cx="8229600" cy="2743200"/>
          </a:xfrm>
          <a:prstGeom prst="rect">
            <a:avLst/>
          </a:prstGeom>
          <a:noFill/>
          <a:ln/>
        </p:spPr>
        <p:txBody>
          <a:bodyPr wrap="square" rtlCol="0" anchor="t"/>
          <a:lstStyle/>
          <a:p>
            <a:pPr marL="342900" indent="-342900">
              <a:spcAft>
                <a:spcPts val="400"/>
              </a:spcAft>
              <a:buSzPct val="100000"/>
              <a:buChar char="•"/>
            </a:pPr>
            <a:r>
              <a:rPr lang="en-US" sz="1300" dirty="0">
                <a:solidFill>
                  <a:srgbClr val="0D1B2A"/>
                </a:solidFill>
                <a:ea typeface="Calibri" pitchFamily="34" charset="-122"/>
                <a:cs typeface="Calibri" pitchFamily="34" charset="-120"/>
              </a:rPr>
              <a:t>Documentary was the most produced genre every year from 2010–2017; Drama took over in 2018–2019</a:t>
            </a:r>
            <a:endParaRPr lang="en-US" sz="1300" dirty="0"/>
          </a:p>
          <a:p>
            <a:pPr marL="342900" indent="-342900">
              <a:spcAft>
                <a:spcPts val="400"/>
              </a:spcAft>
              <a:buSzPct val="100000"/>
              <a:buChar char="•"/>
            </a:pPr>
            <a:r>
              <a:rPr lang="en-US" sz="1300" dirty="0">
                <a:solidFill>
                  <a:srgbClr val="0D1B2A"/>
                </a:solidFill>
                <a:ea typeface="Calibri" pitchFamily="34" charset="-122"/>
                <a:cs typeface="Calibri" pitchFamily="34" charset="-120"/>
              </a:rPr>
              <a:t>Adventure leads in audience engagement (avg 43,014 votes per movie), followed by Sci-Fi and Fantasy</a:t>
            </a:r>
            <a:endParaRPr lang="en-US" sz="1300" dirty="0"/>
          </a:p>
          <a:p>
            <a:pPr marL="342900" indent="-342900">
              <a:spcAft>
                <a:spcPts val="400"/>
              </a:spcAft>
              <a:buSzPct val="100000"/>
              <a:buChar char="•"/>
            </a:pPr>
            <a:r>
              <a:rPr lang="en-US" sz="1300" dirty="0">
                <a:solidFill>
                  <a:srgbClr val="0D1B2A"/>
                </a:solidFill>
                <a:ea typeface="Calibri" pitchFamily="34" charset="-122"/>
                <a:cs typeface="Calibri" pitchFamily="34" charset="-120"/>
              </a:rPr>
              <a:t>Biography has the highest average rating (6.88) despite lower vote volume making it a niche but quality genre</a:t>
            </a:r>
            <a:endParaRPr lang="en-US" sz="1300" dirty="0"/>
          </a:p>
          <a:p>
            <a:pPr marL="342900" indent="-342900">
              <a:spcAft>
                <a:spcPts val="400"/>
              </a:spcAft>
              <a:buSzPct val="100000"/>
              <a:buChar char="•"/>
            </a:pPr>
            <a:r>
              <a:rPr lang="en-US" sz="1300" dirty="0">
                <a:solidFill>
                  <a:srgbClr val="0D1B2A"/>
                </a:solidFill>
                <a:ea typeface="Calibri" pitchFamily="34" charset="-122"/>
                <a:cs typeface="Calibri" pitchFamily="34" charset="-120"/>
              </a:rPr>
              <a:t>Average movie runtime remained stable at roughly 90 minutes across the full decade</a:t>
            </a:r>
            <a:endParaRPr lang="en-US" sz="1300" dirty="0"/>
          </a:p>
          <a:p>
            <a:pPr marL="342900" indent="-342900">
              <a:spcAft>
                <a:spcPts val="400"/>
              </a:spcAft>
              <a:buSzPct val="100000"/>
              <a:buChar char="•"/>
            </a:pPr>
            <a:r>
              <a:rPr lang="en-US" sz="1300" dirty="0">
                <a:solidFill>
                  <a:srgbClr val="0D1B2A"/>
                </a:solidFill>
                <a:ea typeface="Calibri" pitchFamily="34" charset="-122"/>
                <a:cs typeface="Calibri" pitchFamily="34" charset="-120"/>
              </a:rPr>
              <a:t>Several columns contain null values (genres, runtime_minutes, start_year) requiring careful filtering</a:t>
            </a:r>
            <a:endParaRPr lang="en-US" sz="1300" dirty="0"/>
          </a:p>
          <a:p>
            <a:pPr marL="342900" indent="-342900">
              <a:spcAft>
                <a:spcPts val="400"/>
              </a:spcAft>
              <a:buSzPct val="100000"/>
              <a:buChar char="•"/>
            </a:pPr>
            <a:r>
              <a:rPr lang="en-US" sz="1300" dirty="0">
                <a:solidFill>
                  <a:srgbClr val="0D1B2A"/>
                </a:solidFill>
                <a:ea typeface="Calibri" pitchFamily="34" charset="-122"/>
                <a:cs typeface="Calibri" pitchFamily="34" charset="-120"/>
              </a:rPr>
              <a:t>Genres have been stored as comma-separated strings (e.g. 'Drama,Romance') and must be exploded for accurate analysis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9FA"/>
        </a:solidFill>
        <a:effectLst/>
      </p:bgPr>
    </p:bg>
    <p:spTree>
      <p:nvGrpSpPr>
        <p:cNvPr id="1" name=""/>
        <p:cNvGrpSpPr/>
        <p:nvPr/>
      </p:nvGrpSpPr>
      <p:grpSpPr>
        <a:xfrm>
          <a:off x="0" y="0"/>
          <a:ext cx="0" cy="0"/>
          <a:chOff x="0" y="0"/>
          <a:chExt cx="0" cy="0"/>
        </a:xfrm>
      </p:grpSpPr>
      <p:sp>
        <p:nvSpPr>
          <p:cNvPr id="2" name="Text 0"/>
          <p:cNvSpPr/>
          <p:nvPr/>
        </p:nvSpPr>
        <p:spPr>
          <a:xfrm>
            <a:off x="457200" y="57150"/>
            <a:ext cx="8229600" cy="457200"/>
          </a:xfrm>
          <a:prstGeom prst="rect">
            <a:avLst/>
          </a:prstGeom>
          <a:noFill/>
          <a:ln/>
        </p:spPr>
        <p:txBody>
          <a:bodyPr wrap="square" rtlCol="0" anchor="ctr"/>
          <a:lstStyle/>
          <a:p>
            <a:pPr marL="0" indent="0">
              <a:buNone/>
            </a:pPr>
            <a:r>
              <a:rPr lang="en-US" sz="2600" b="1" dirty="0">
                <a:solidFill>
                  <a:srgbClr val="0D1B2A"/>
                </a:solidFill>
                <a:ea typeface="Calibri" pitchFamily="34" charset="-122"/>
                <a:cs typeface="Calibri" pitchFamily="34" charset="-120"/>
              </a:rPr>
              <a:t>Business Question</a:t>
            </a:r>
            <a:endParaRPr lang="en-US" sz="2600" dirty="0"/>
          </a:p>
        </p:txBody>
      </p:sp>
      <p:sp>
        <p:nvSpPr>
          <p:cNvPr id="3" name="Shape 1"/>
          <p:cNvSpPr/>
          <p:nvPr/>
        </p:nvSpPr>
        <p:spPr>
          <a:xfrm>
            <a:off x="457200" y="491490"/>
            <a:ext cx="1280160" cy="45720"/>
          </a:xfrm>
          <a:prstGeom prst="rect">
            <a:avLst/>
          </a:prstGeom>
          <a:solidFill>
            <a:srgbClr val="028090"/>
          </a:solidFill>
          <a:ln/>
        </p:spPr>
      </p:sp>
      <p:sp>
        <p:nvSpPr>
          <p:cNvPr id="4" name="Shape 2"/>
          <p:cNvSpPr/>
          <p:nvPr/>
        </p:nvSpPr>
        <p:spPr>
          <a:xfrm>
            <a:off x="457200" y="619125"/>
            <a:ext cx="8229600" cy="502920"/>
          </a:xfrm>
          <a:prstGeom prst="rect">
            <a:avLst/>
          </a:prstGeom>
          <a:solidFill>
            <a:srgbClr val="028090"/>
          </a:solidFill>
          <a:ln/>
        </p:spPr>
      </p:sp>
      <p:sp>
        <p:nvSpPr>
          <p:cNvPr id="5" name="Text 3"/>
          <p:cNvSpPr/>
          <p:nvPr/>
        </p:nvSpPr>
        <p:spPr>
          <a:xfrm>
            <a:off x="548640" y="562356"/>
            <a:ext cx="8046720" cy="475488"/>
          </a:xfrm>
          <a:prstGeom prst="rect">
            <a:avLst/>
          </a:prstGeom>
          <a:noFill/>
          <a:ln/>
        </p:spPr>
        <p:txBody>
          <a:bodyPr wrap="square" rtlCol="0" anchor="ctr"/>
          <a:lstStyle/>
          <a:p>
            <a:pPr marL="0" indent="0">
              <a:buNone/>
            </a:pPr>
            <a:r>
              <a:rPr lang="en-US" sz="1300" i="1" dirty="0">
                <a:solidFill>
                  <a:srgbClr val="FFFFFF"/>
                </a:solidFill>
                <a:ea typeface="Calibri" pitchFamily="34" charset="-122"/>
                <a:cs typeface="Calibri" pitchFamily="34" charset="-120"/>
              </a:rPr>
              <a:t xml:space="preserve">Which genres are most popular based on audience engagement (votes &amp; ratings) </a:t>
            </a:r>
            <a:endParaRPr lang="en-US" sz="1300" dirty="0"/>
          </a:p>
        </p:txBody>
      </p:sp>
      <p:graphicFrame>
        <p:nvGraphicFramePr>
          <p:cNvPr id="6" name="Chart 0"/>
          <p:cNvGraphicFramePr/>
          <p:nvPr>
            <p:extLst>
              <p:ext uri="{D42A27DB-BD31-4B8C-83A1-F6EECF244321}">
                <p14:modId xmlns:p14="http://schemas.microsoft.com/office/powerpoint/2010/main" val="579447247"/>
              </p:ext>
            </p:extLst>
          </p:nvPr>
        </p:nvGraphicFramePr>
        <p:xfrm>
          <a:off x="365760" y="2080260"/>
          <a:ext cx="4297680" cy="27660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extLst>
              <p:ext uri="{D42A27DB-BD31-4B8C-83A1-F6EECF244321}">
                <p14:modId xmlns:p14="http://schemas.microsoft.com/office/powerpoint/2010/main" val="2812355820"/>
              </p:ext>
            </p:extLst>
          </p:nvPr>
        </p:nvGraphicFramePr>
        <p:xfrm>
          <a:off x="4846320" y="2080260"/>
          <a:ext cx="4023360" cy="276606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2">
            <a:extLst>
              <a:ext uri="{FF2B5EF4-FFF2-40B4-BE49-F238E27FC236}">
                <a16:creationId xmlns:a16="http://schemas.microsoft.com/office/drawing/2014/main" id="{DE810731-B828-DEDE-27D4-32A3888B99B2}"/>
              </a:ext>
            </a:extLst>
          </p:cNvPr>
          <p:cNvSpPr/>
          <p:nvPr/>
        </p:nvSpPr>
        <p:spPr>
          <a:xfrm>
            <a:off x="457200" y="1226820"/>
            <a:ext cx="8229600" cy="693420"/>
          </a:xfrm>
          <a:prstGeom prst="rect">
            <a:avLst/>
          </a:prstGeom>
          <a:solidFill>
            <a:srgbClr val="028090"/>
          </a:solidFill>
          <a:ln/>
        </p:spPr>
        <p:txBody>
          <a:bodyPr/>
          <a:lstStyle/>
          <a:p>
            <a:r>
              <a:rPr lang="en-US" sz="1200" dirty="0">
                <a:solidFill>
                  <a:schemeClr val="bg1"/>
                </a:solidFill>
              </a:rPr>
              <a:t>From the analysis and the visuals below, Adventure, Sci-Fi and Fantasy genres bring in the most audiences due to high number of votes however Biography and animation has the highest ratings meaning they more quality movies. Studios could invest more in genres that bring in the highest number of audience hence generating more income.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9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Data Cleaning Tasks</a:t>
            </a:r>
            <a:endParaRPr lang="en-US" sz="2600" dirty="0"/>
          </a:p>
        </p:txBody>
      </p:sp>
      <p:sp>
        <p:nvSpPr>
          <p:cNvPr id="3" name="Shape 1"/>
          <p:cNvSpPr/>
          <p:nvPr/>
        </p:nvSpPr>
        <p:spPr>
          <a:xfrm>
            <a:off x="457200" y="777240"/>
            <a:ext cx="1280160" cy="45720"/>
          </a:xfrm>
          <a:prstGeom prst="rect">
            <a:avLst/>
          </a:prstGeom>
          <a:solidFill>
            <a:srgbClr val="028090"/>
          </a:solidFill>
          <a:ln/>
        </p:spPr>
      </p:sp>
      <p:sp>
        <p:nvSpPr>
          <p:cNvPr id="4" name="Shape 2"/>
          <p:cNvSpPr/>
          <p:nvPr/>
        </p:nvSpPr>
        <p:spPr>
          <a:xfrm>
            <a:off x="457200" y="1005840"/>
            <a:ext cx="4114800" cy="1188720"/>
          </a:xfrm>
          <a:prstGeom prst="rect">
            <a:avLst/>
          </a:prstGeom>
          <a:solidFill>
            <a:srgbClr val="FFFFFF"/>
          </a:solidFill>
          <a:ln w="10160">
            <a:solidFill>
              <a:srgbClr val="A8DADC"/>
            </a:solidFill>
            <a:prstDash val="solid"/>
          </a:ln>
        </p:spPr>
      </p:sp>
      <p:sp>
        <p:nvSpPr>
          <p:cNvPr id="5" name="Shape 3"/>
          <p:cNvSpPr/>
          <p:nvPr/>
        </p:nvSpPr>
        <p:spPr>
          <a:xfrm>
            <a:off x="457200" y="1005840"/>
            <a:ext cx="502920" cy="1188720"/>
          </a:xfrm>
          <a:prstGeom prst="rect">
            <a:avLst/>
          </a:prstGeom>
          <a:solidFill>
            <a:srgbClr val="028090"/>
          </a:solidFill>
          <a:ln/>
        </p:spPr>
      </p:sp>
      <p:sp>
        <p:nvSpPr>
          <p:cNvPr id="6" name="Text 4"/>
          <p:cNvSpPr/>
          <p:nvPr/>
        </p:nvSpPr>
        <p:spPr>
          <a:xfrm>
            <a:off x="457200" y="1280160"/>
            <a:ext cx="50292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7" name="Text 5"/>
          <p:cNvSpPr/>
          <p:nvPr/>
        </p:nvSpPr>
        <p:spPr>
          <a:xfrm>
            <a:off x="1051560" y="1078992"/>
            <a:ext cx="3429000" cy="32004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Genre Normalisation</a:t>
            </a:r>
            <a:endParaRPr lang="en-US" sz="1200" dirty="0"/>
          </a:p>
        </p:txBody>
      </p:sp>
      <p:sp>
        <p:nvSpPr>
          <p:cNvPr id="8" name="Text 6"/>
          <p:cNvSpPr/>
          <p:nvPr/>
        </p:nvSpPr>
        <p:spPr>
          <a:xfrm>
            <a:off x="1051560" y="1389888"/>
            <a:ext cx="3429000" cy="713232"/>
          </a:xfrm>
          <a:prstGeom prst="rect">
            <a:avLst/>
          </a:prstGeom>
          <a:noFill/>
          <a:ln/>
        </p:spPr>
        <p:txBody>
          <a:bodyPr wrap="square" rtlCol="0" anchor="t"/>
          <a:lstStyle/>
          <a:p>
            <a:pPr marL="0" indent="0">
              <a:buNone/>
            </a:pPr>
            <a:r>
              <a:rPr lang="en-US" sz="1000" dirty="0">
                <a:solidFill>
                  <a:srgbClr val="5A7A85"/>
                </a:solidFill>
                <a:latin typeface="Calibri" pitchFamily="34" charset="0"/>
                <a:ea typeface="Calibri" pitchFamily="34" charset="-122"/>
                <a:cs typeface="Calibri" pitchFamily="34" charset="-120"/>
              </a:rPr>
              <a:t>Genres are stored as comma-separated strings (e.g. 'Drama,Romance'). These must be split and exploded into individual rows before any genre-level analysis.</a:t>
            </a:r>
            <a:endParaRPr lang="en-US" sz="1000" dirty="0"/>
          </a:p>
        </p:txBody>
      </p:sp>
      <p:sp>
        <p:nvSpPr>
          <p:cNvPr id="9" name="Shape 7"/>
          <p:cNvSpPr/>
          <p:nvPr/>
        </p:nvSpPr>
        <p:spPr>
          <a:xfrm>
            <a:off x="4846320" y="1005840"/>
            <a:ext cx="4114800" cy="1188720"/>
          </a:xfrm>
          <a:prstGeom prst="rect">
            <a:avLst/>
          </a:prstGeom>
          <a:solidFill>
            <a:srgbClr val="FFFFFF"/>
          </a:solidFill>
          <a:ln w="10160">
            <a:solidFill>
              <a:srgbClr val="A8DADC"/>
            </a:solidFill>
            <a:prstDash val="solid"/>
          </a:ln>
        </p:spPr>
      </p:sp>
      <p:sp>
        <p:nvSpPr>
          <p:cNvPr id="10" name="Shape 8"/>
          <p:cNvSpPr/>
          <p:nvPr/>
        </p:nvSpPr>
        <p:spPr>
          <a:xfrm>
            <a:off x="4846320" y="1005840"/>
            <a:ext cx="502920" cy="1188720"/>
          </a:xfrm>
          <a:prstGeom prst="rect">
            <a:avLst/>
          </a:prstGeom>
          <a:solidFill>
            <a:srgbClr val="028090"/>
          </a:solidFill>
          <a:ln/>
        </p:spPr>
      </p:sp>
      <p:sp>
        <p:nvSpPr>
          <p:cNvPr id="11" name="Text 9"/>
          <p:cNvSpPr/>
          <p:nvPr/>
        </p:nvSpPr>
        <p:spPr>
          <a:xfrm>
            <a:off x="4846320" y="1280160"/>
            <a:ext cx="50292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2" name="Text 10"/>
          <p:cNvSpPr/>
          <p:nvPr/>
        </p:nvSpPr>
        <p:spPr>
          <a:xfrm>
            <a:off x="5440680" y="1078992"/>
            <a:ext cx="3429000" cy="32004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Null Value Handling</a:t>
            </a:r>
            <a:endParaRPr lang="en-US" sz="1200" dirty="0"/>
          </a:p>
        </p:txBody>
      </p:sp>
      <p:sp>
        <p:nvSpPr>
          <p:cNvPr id="13" name="Text 11"/>
          <p:cNvSpPr/>
          <p:nvPr/>
        </p:nvSpPr>
        <p:spPr>
          <a:xfrm>
            <a:off x="5440680" y="1389888"/>
            <a:ext cx="3429000" cy="713232"/>
          </a:xfrm>
          <a:prstGeom prst="rect">
            <a:avLst/>
          </a:prstGeom>
          <a:noFill/>
          <a:ln/>
        </p:spPr>
        <p:txBody>
          <a:bodyPr wrap="square" rtlCol="0" anchor="t"/>
          <a:lstStyle/>
          <a:p>
            <a:pPr marL="0" indent="0">
              <a:buNone/>
            </a:pPr>
            <a:r>
              <a:rPr lang="en-US" sz="1000" dirty="0">
                <a:solidFill>
                  <a:srgbClr val="5A7A85"/>
                </a:solidFill>
                <a:latin typeface="Calibri" pitchFamily="34" charset="0"/>
                <a:ea typeface="Calibri" pitchFamily="34" charset="-122"/>
                <a:cs typeface="Calibri" pitchFamily="34" charset="-120"/>
              </a:rPr>
              <a:t>Multiple columns contain nulls — genres, runtime_minutes, and start_year. Rows with nulls in key fields must be excluded using IS NOT NULL filters.</a:t>
            </a:r>
            <a:endParaRPr lang="en-US" sz="1000" dirty="0"/>
          </a:p>
        </p:txBody>
      </p:sp>
      <p:sp>
        <p:nvSpPr>
          <p:cNvPr id="14" name="Shape 12"/>
          <p:cNvSpPr/>
          <p:nvPr/>
        </p:nvSpPr>
        <p:spPr>
          <a:xfrm>
            <a:off x="457200" y="2331720"/>
            <a:ext cx="4114800" cy="1188720"/>
          </a:xfrm>
          <a:prstGeom prst="rect">
            <a:avLst/>
          </a:prstGeom>
          <a:solidFill>
            <a:srgbClr val="FFFFFF"/>
          </a:solidFill>
          <a:ln w="10160">
            <a:solidFill>
              <a:srgbClr val="A8DADC"/>
            </a:solidFill>
            <a:prstDash val="solid"/>
          </a:ln>
        </p:spPr>
      </p:sp>
      <p:sp>
        <p:nvSpPr>
          <p:cNvPr id="15" name="Shape 13"/>
          <p:cNvSpPr/>
          <p:nvPr/>
        </p:nvSpPr>
        <p:spPr>
          <a:xfrm>
            <a:off x="457200" y="2331720"/>
            <a:ext cx="502920" cy="1188720"/>
          </a:xfrm>
          <a:prstGeom prst="rect">
            <a:avLst/>
          </a:prstGeom>
          <a:solidFill>
            <a:srgbClr val="028090"/>
          </a:solidFill>
          <a:ln/>
        </p:spPr>
      </p:sp>
      <p:sp>
        <p:nvSpPr>
          <p:cNvPr id="16" name="Text 14"/>
          <p:cNvSpPr/>
          <p:nvPr/>
        </p:nvSpPr>
        <p:spPr>
          <a:xfrm>
            <a:off x="457200" y="2606040"/>
            <a:ext cx="50292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7" name="Text 15"/>
          <p:cNvSpPr/>
          <p:nvPr/>
        </p:nvSpPr>
        <p:spPr>
          <a:xfrm>
            <a:off x="1051560" y="2404872"/>
            <a:ext cx="3429000" cy="32004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Runtime Outliers</a:t>
            </a:r>
            <a:endParaRPr lang="en-US" sz="1200" dirty="0"/>
          </a:p>
        </p:txBody>
      </p:sp>
      <p:sp>
        <p:nvSpPr>
          <p:cNvPr id="18" name="Text 16"/>
          <p:cNvSpPr/>
          <p:nvPr/>
        </p:nvSpPr>
        <p:spPr>
          <a:xfrm>
            <a:off x="1051560" y="2715768"/>
            <a:ext cx="3429000" cy="713232"/>
          </a:xfrm>
          <a:prstGeom prst="rect">
            <a:avLst/>
          </a:prstGeom>
          <a:noFill/>
          <a:ln/>
        </p:spPr>
        <p:txBody>
          <a:bodyPr wrap="square" rtlCol="0" anchor="t"/>
          <a:lstStyle/>
          <a:p>
            <a:pPr marL="0" indent="0">
              <a:buNone/>
            </a:pPr>
            <a:r>
              <a:rPr lang="en-US" sz="1000" dirty="0">
                <a:solidFill>
                  <a:srgbClr val="5A7A85"/>
                </a:solidFill>
                <a:latin typeface="Calibri" pitchFamily="34" charset="0"/>
                <a:ea typeface="Calibri" pitchFamily="34" charset="-122"/>
                <a:cs typeface="Calibri" pitchFamily="34" charset="-120"/>
              </a:rPr>
              <a:t>Some entries have unrealistic runtimes (0 min or 600+ min), likely data entry errors. Filter to a sensible range (e.g. BETWEEN 40 AND 300 minutes).</a:t>
            </a:r>
            <a:endParaRPr lang="en-US" sz="1000" dirty="0"/>
          </a:p>
        </p:txBody>
      </p:sp>
      <p:sp>
        <p:nvSpPr>
          <p:cNvPr id="21" name="Text 19"/>
          <p:cNvSpPr/>
          <p:nvPr/>
        </p:nvSpPr>
        <p:spPr>
          <a:xfrm>
            <a:off x="4846320" y="2606040"/>
            <a:ext cx="50292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4" name="Shape 22"/>
          <p:cNvSpPr/>
          <p:nvPr/>
        </p:nvSpPr>
        <p:spPr>
          <a:xfrm>
            <a:off x="4846320" y="2298192"/>
            <a:ext cx="4114800" cy="1188720"/>
          </a:xfrm>
          <a:prstGeom prst="rect">
            <a:avLst/>
          </a:prstGeom>
          <a:solidFill>
            <a:srgbClr val="FFFFFF"/>
          </a:solidFill>
          <a:ln w="10160">
            <a:solidFill>
              <a:srgbClr val="A8DADC"/>
            </a:solidFill>
            <a:prstDash val="solid"/>
          </a:ln>
        </p:spPr>
      </p:sp>
      <p:sp>
        <p:nvSpPr>
          <p:cNvPr id="25" name="Shape 23"/>
          <p:cNvSpPr/>
          <p:nvPr/>
        </p:nvSpPr>
        <p:spPr>
          <a:xfrm>
            <a:off x="4846320" y="2298192"/>
            <a:ext cx="502920" cy="1188720"/>
          </a:xfrm>
          <a:prstGeom prst="rect">
            <a:avLst/>
          </a:prstGeom>
          <a:solidFill>
            <a:srgbClr val="028090"/>
          </a:solidFill>
          <a:ln/>
        </p:spPr>
        <p:txBody>
          <a:bodyPr/>
          <a:lstStyle/>
          <a:p>
            <a:endParaRPr lang="en-US" dirty="0"/>
          </a:p>
          <a:p>
            <a:r>
              <a:rPr lang="en-US" dirty="0">
                <a:solidFill>
                  <a:schemeClr val="bg1"/>
                </a:solidFill>
              </a:rPr>
              <a:t>04</a:t>
            </a:r>
          </a:p>
        </p:txBody>
      </p:sp>
      <p:sp>
        <p:nvSpPr>
          <p:cNvPr id="26" name="Text 24"/>
          <p:cNvSpPr/>
          <p:nvPr/>
        </p:nvSpPr>
        <p:spPr>
          <a:xfrm>
            <a:off x="457200" y="3931920"/>
            <a:ext cx="50292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7" name="Text 25"/>
          <p:cNvSpPr/>
          <p:nvPr/>
        </p:nvSpPr>
        <p:spPr>
          <a:xfrm>
            <a:off x="5440680" y="2371344"/>
            <a:ext cx="3429000" cy="32004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Duplicate Entries</a:t>
            </a:r>
            <a:endParaRPr lang="en-US" sz="1200" dirty="0"/>
          </a:p>
        </p:txBody>
      </p:sp>
      <p:sp>
        <p:nvSpPr>
          <p:cNvPr id="28" name="Text 26"/>
          <p:cNvSpPr/>
          <p:nvPr/>
        </p:nvSpPr>
        <p:spPr>
          <a:xfrm>
            <a:off x="5440680" y="2682240"/>
            <a:ext cx="3429000" cy="713232"/>
          </a:xfrm>
          <a:prstGeom prst="rect">
            <a:avLst/>
          </a:prstGeom>
          <a:noFill/>
          <a:ln/>
        </p:spPr>
        <p:txBody>
          <a:bodyPr wrap="square" rtlCol="0" anchor="t"/>
          <a:lstStyle/>
          <a:p>
            <a:pPr marL="0" indent="0">
              <a:buNone/>
            </a:pPr>
            <a:r>
              <a:rPr lang="en-US" sz="1000" dirty="0">
                <a:solidFill>
                  <a:srgbClr val="5A7A85"/>
                </a:solidFill>
                <a:latin typeface="Calibri" pitchFamily="34" charset="0"/>
                <a:ea typeface="Calibri" pitchFamily="34" charset="-122"/>
                <a:cs typeface="Calibri" pitchFamily="34" charset="-120"/>
              </a:rPr>
              <a:t>movie_akas contains multiple rows per movie (regional titles). Joining this table without aggregation inflates movie counts.</a:t>
            </a:r>
            <a:endParaRPr lang="en-US" sz="1000" dirty="0"/>
          </a:p>
        </p:txBody>
      </p:sp>
      <p:sp>
        <p:nvSpPr>
          <p:cNvPr id="31" name="Text 29"/>
          <p:cNvSpPr/>
          <p:nvPr/>
        </p:nvSpPr>
        <p:spPr>
          <a:xfrm>
            <a:off x="4846320" y="3931920"/>
            <a:ext cx="50292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p:spPr>
      </p:sp>
      <p:sp>
        <p:nvSpPr>
          <p:cNvPr id="3" name="Text 1"/>
          <p:cNvSpPr/>
          <p:nvPr/>
        </p:nvSpPr>
        <p:spPr>
          <a:xfrm>
            <a:off x="411480" y="457200"/>
            <a:ext cx="8321040" cy="54864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Key Takeaways</a:t>
            </a:r>
            <a:endParaRPr lang="en-US" sz="3000" dirty="0"/>
          </a:p>
        </p:txBody>
      </p:sp>
      <p:sp>
        <p:nvSpPr>
          <p:cNvPr id="4" name="Text 2"/>
          <p:cNvSpPr/>
          <p:nvPr/>
        </p:nvSpPr>
        <p:spPr>
          <a:xfrm>
            <a:off x="457200" y="1188720"/>
            <a:ext cx="8229600" cy="3291840"/>
          </a:xfrm>
          <a:prstGeom prst="rect">
            <a:avLst/>
          </a:prstGeom>
          <a:noFill/>
          <a:ln/>
        </p:spPr>
        <p:txBody>
          <a:bodyPr wrap="square" rtlCol="0" anchor="t"/>
          <a:lstStyle/>
          <a:p>
            <a:pPr marL="342900" indent="-342900">
              <a:spcAft>
                <a:spcPts val="600"/>
              </a:spcAft>
              <a:buSzPct val="100000"/>
              <a:buChar char="•"/>
            </a:pPr>
            <a:r>
              <a:rPr lang="en-US" sz="1500" dirty="0">
                <a:solidFill>
                  <a:srgbClr val="A8DADC"/>
                </a:solidFill>
                <a:latin typeface="Calibri" pitchFamily="34" charset="0"/>
                <a:ea typeface="Calibri" pitchFamily="34" charset="-122"/>
                <a:cs typeface="Calibri" pitchFamily="34" charset="-120"/>
              </a:rPr>
              <a:t>Documentary dominated production volume 2010–2017; Drama surged in 2018–2019</a:t>
            </a:r>
            <a:endParaRPr lang="en-US" sz="1500" dirty="0"/>
          </a:p>
          <a:p>
            <a:pPr marL="342900" indent="-342900">
              <a:spcAft>
                <a:spcPts val="600"/>
              </a:spcAft>
              <a:buSzPct val="100000"/>
              <a:buChar char="•"/>
            </a:pPr>
            <a:r>
              <a:rPr lang="en-US" sz="1500" dirty="0">
                <a:solidFill>
                  <a:srgbClr val="A8DADC"/>
                </a:solidFill>
                <a:latin typeface="Calibri" pitchFamily="34" charset="0"/>
                <a:ea typeface="Calibri" pitchFamily="34" charset="-122"/>
                <a:cs typeface="Calibri" pitchFamily="34" charset="-120"/>
              </a:rPr>
              <a:t>Adventure &amp; Sci-Fi attract the largest audiences by vote count which is ideal for mass-market investment</a:t>
            </a:r>
            <a:endParaRPr lang="en-US" sz="1500" dirty="0"/>
          </a:p>
          <a:p>
            <a:pPr marL="342900" indent="-342900">
              <a:spcAft>
                <a:spcPts val="600"/>
              </a:spcAft>
              <a:buSzPct val="100000"/>
              <a:buChar char="•"/>
            </a:pPr>
            <a:r>
              <a:rPr lang="en-US" sz="1500" dirty="0">
                <a:solidFill>
                  <a:srgbClr val="A8DADC"/>
                </a:solidFill>
                <a:latin typeface="Calibri" pitchFamily="34" charset="0"/>
                <a:ea typeface="Calibri" pitchFamily="34" charset="-122"/>
                <a:cs typeface="Calibri" pitchFamily="34" charset="-120"/>
              </a:rPr>
              <a:t>Biography &amp; Animation have the highest average ratings making them strong candidates for prestige content</a:t>
            </a:r>
            <a:endParaRPr lang="en-US" sz="1500" dirty="0"/>
          </a:p>
          <a:p>
            <a:pPr marL="342900" indent="-342900">
              <a:spcAft>
                <a:spcPts val="600"/>
              </a:spcAft>
              <a:buSzPct val="100000"/>
              <a:buChar char="•"/>
            </a:pPr>
            <a:r>
              <a:rPr lang="en-US" sz="1500" dirty="0">
                <a:solidFill>
                  <a:srgbClr val="A8DADC"/>
                </a:solidFill>
                <a:latin typeface="Calibri" pitchFamily="34" charset="0"/>
                <a:ea typeface="Calibri" pitchFamily="34" charset="-122"/>
                <a:cs typeface="Calibri" pitchFamily="34" charset="-120"/>
              </a:rPr>
              <a:t>Genre data requires normalisation before reliable analysis can be performed</a:t>
            </a:r>
            <a:endParaRPr lang="en-US" sz="1500" dirty="0"/>
          </a:p>
          <a:p>
            <a:pPr marL="342900" indent="-342900">
              <a:spcAft>
                <a:spcPts val="600"/>
              </a:spcAft>
              <a:buSzPct val="100000"/>
              <a:buChar char="•"/>
            </a:pPr>
            <a:r>
              <a:rPr lang="en-US" sz="1500" dirty="0">
                <a:solidFill>
                  <a:srgbClr val="A8DADC"/>
                </a:solidFill>
                <a:latin typeface="Calibri" pitchFamily="34" charset="0"/>
                <a:ea typeface="Calibri" pitchFamily="34" charset="-122"/>
                <a:cs typeface="Calibri" pitchFamily="34" charset="-120"/>
              </a:rPr>
              <a:t>A minimum vote threshold (100+) and year filter (2010–2019) are essential for clean results</a:t>
            </a:r>
            <a:endParaRPr lang="en-US" sz="1500" dirty="0"/>
          </a:p>
        </p:txBody>
      </p:sp>
      <p:sp>
        <p:nvSpPr>
          <p:cNvPr id="5" name="Text 3"/>
          <p:cNvSpPr/>
          <p:nvPr/>
        </p:nvSpPr>
        <p:spPr>
          <a:xfrm>
            <a:off x="411480" y="4663440"/>
            <a:ext cx="8321040" cy="320040"/>
          </a:xfrm>
          <a:prstGeom prst="rect">
            <a:avLst/>
          </a:prstGeom>
          <a:noFill/>
          <a:ln/>
        </p:spPr>
        <p:txBody>
          <a:bodyPr wrap="square" rtlCol="0" anchor="ctr"/>
          <a:lstStyle/>
          <a:p>
            <a:pPr marL="0" indent="0">
              <a:buNone/>
            </a:pP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441</Words>
  <Application>Microsoft Office PowerPoint</Application>
  <PresentationFormat>On-screen Show (16:9)</PresentationFormat>
  <Paragraphs>51</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IMDB Movie Data – SQL Exploratory Analysis</dc:title>
  <dc:subject>PptxGenJS Presentation</dc:subject>
  <dc:creator>PptxGenJS</dc:creator>
  <cp:lastModifiedBy>Tracy Misigo</cp:lastModifiedBy>
  <cp:revision>2</cp:revision>
  <dcterms:created xsi:type="dcterms:W3CDTF">2026-04-26T01:38:44Z</dcterms:created>
  <dcterms:modified xsi:type="dcterms:W3CDTF">2026-04-26T02:05:21Z</dcterms:modified>
</cp:coreProperties>
</file>